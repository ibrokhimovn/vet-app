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E625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E625A"/>
                </a:solidFill>
                <a:latin typeface="Arial"/>
              </a:rPr>
              <a:t>Oylik sof natija (mln so'm)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Oylik sof foyda/zarar (mln so'm)</c:v>
                </c:pt>
              </c:strCache>
            </c:strRef>
          </c:tx>
          <c:spPr>
            <a:solidFill>
              <a:srgbClr val="C94A3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1D1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4A3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8F5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Pessimistik</c:v>
                  </c:pt>
                  <c:pt idx="1">
                    <c:v>Asosiy</c:v>
                  </c:pt>
                  <c:pt idx="2">
                    <c:v>Optimistik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-3.4</c:v>
                </c:pt>
                <c:pt idx="1">
                  <c:v>2.2</c:v>
                </c:pt>
                <c:pt idx="2">
                  <c:v>17.5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B1D1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D1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5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194560"/>
            <a:ext cx="6583680" cy="6583680"/>
          </a:xfrm>
          <a:prstGeom prst="ellipse">
            <a:avLst/>
          </a:prstGeom>
          <a:solidFill>
            <a:srgbClr val="D9633B"/>
          </a:solidFill>
          <a:ln w="12700">
            <a:solidFill>
              <a:srgbClr val="D963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4206240"/>
            <a:ext cx="4754880" cy="4754880"/>
          </a:xfrm>
          <a:prstGeom prst="ellipse">
            <a:avLst/>
          </a:prstGeom>
          <a:solidFill>
            <a:srgbClr val="D9633B"/>
          </a:solidFill>
          <a:ln w="12700">
            <a:solidFill>
              <a:srgbClr val="D963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BE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model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hajmi (TAM / SAM / SOM), daromad modeli va yo'l xaritasi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94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FBE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Barcha bozor raqamlari rasmiy statistika (stat.uz, cbu.uz) va aniq belgilangan taxminlar asosida hisoblangan — manbalar 5-slaydda.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KONTEKSTI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O'zbekiston: hayvon egalari bozori raqamlarda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8156" y="2103120"/>
            <a:ext cx="685800" cy="68580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322" y="2288286"/>
            <a:ext cx="315468" cy="3154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9718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37,5 mln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747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aholi (2025-y. boshi)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98064" y="18288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7580" y="2103120"/>
            <a:ext cx="685800" cy="68580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746" y="228828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89504" y="29718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14,1 mln bosh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2935224" y="34747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yirik shoxli qoramol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47488" y="18288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47004" y="2103120"/>
            <a:ext cx="685800" cy="68580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170" y="228828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29718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24,1 mln bosh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5184648" y="34747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qo'y va echki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296912" y="18288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96428" y="2103120"/>
            <a:ext cx="685800" cy="68580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594" y="2288286"/>
            <a:ext cx="315468" cy="3154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88352" y="29718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4,56 mln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7434072" y="34747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dehqon xo'jaligi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546336" y="1828800"/>
            <a:ext cx="2084832" cy="22860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45852" y="2103120"/>
            <a:ext cx="685800" cy="68580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1018" y="2288286"/>
            <a:ext cx="315468" cy="3154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637776" y="29718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80 628 ta</a:t>
            </a:r>
            <a:endParaRPr lang="en-US" sz="2100" dirty="0"/>
          </a:p>
        </p:txBody>
      </p:sp>
      <p:sp>
        <p:nvSpPr>
          <p:cNvPr id="28" name="Text 21"/>
          <p:cNvSpPr txBox="1"/>
          <p:nvPr/>
        </p:nvSpPr>
        <p:spPr>
          <a:xfrm>
            <a:off x="9683496" y="34747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fermer xo'jaligi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DEBDF"/>
          </a:solidFill>
          <a:ln w="9525">
            <a:solidFill>
              <a:srgbClr val="FDEBDF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822960" y="4599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Xulosa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Mamlakatda hayvonga egalik qiluvchi oilalar soni juda katta — asosan qishloq xo'jaligi (chorva) shaklida. Bu Vet-App uchun ikki segment demakdir: shahar uy hayvoni egalari va qishloqdagi chorva egalari.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Manba: Davlat statistika qo'mitasi — stat.uz (2024–2025)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HAJMI — 1-QATLAM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Foydalanuvchilar bozori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Ilovadan foydalanishi mumkin bo'lgan hayvon egasi oilalar (mijoz tomon, bepul foydalanuvchilar)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4206240" cy="4206240"/>
          </a:xfrm>
          <a:prstGeom prst="ellipse">
            <a:avLst/>
          </a:prstGeom>
          <a:solidFill>
            <a:srgbClr val="FDEB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3131820"/>
            <a:ext cx="2880360" cy="2880360"/>
          </a:xfrm>
          <a:prstGeom prst="ellipse">
            <a:avLst/>
          </a:prstGeom>
          <a:solidFill>
            <a:srgbClr val="F2A57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0260" y="3771900"/>
            <a:ext cx="1600200" cy="1600200"/>
          </a:xfrm>
          <a:prstGeom prst="ellipse">
            <a:avLst/>
          </a:prstGeom>
          <a:solidFill>
            <a:srgbClr val="C9552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6812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(shartli tasvir, masshtabga mos emas)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2039112"/>
            <a:ext cx="201168" cy="20116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56832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2219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≈5,2 mln oila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2679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Chorva (4,64 mln) + shahar uy hayvoni egasi (≈0,6 mln) oilalar, butun mamlakat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246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3502152"/>
            <a:ext cx="201168" cy="201168"/>
          </a:xfrm>
          <a:prstGeom prst="ellipse">
            <a:avLst/>
          </a:prstGeom>
          <a:solidFill>
            <a:srgbClr val="F2A57E"/>
          </a:solidFill>
          <a:ln w="12700">
            <a:solidFill>
              <a:srgbClr val="F2A5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56832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3685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≈2,9 mln oila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Internet/Telegram'dan foydalanadigan, shahar va tuman markazidagi oilalar (~55%)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7091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2512" y="4965192"/>
            <a:ext cx="201168" cy="201168"/>
          </a:xfrm>
          <a:prstGeom prst="ellipse">
            <a:avLst/>
          </a:prstGeom>
          <a:solidFill>
            <a:srgbClr val="C9552F"/>
          </a:solidFill>
          <a:ln w="12700">
            <a:solidFill>
              <a:srgbClr val="C955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56832" y="4846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5148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≈130 ming faol foydalanuvchi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5605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yillik maqsad: Toshkent + 3–4 yirik shahar (pilot hududlar)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Hisoblash: aholi 37,5 mln / ~4,2 kishi xonadonda ≈ 8,9 mln oila. Shahar ulushi ~51%, uy hayvoni egalik darajasi ~13% (taxmin) → ~0,6 mln. To'liq metodika 5-slaydda.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BOZOR HAJMI — 2-QATLAM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 salohiyati (to'lovchi tomon)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Vet-App'da pulni veterinarlar to'laydi (12-bo'lim: mijozdan emas, vetdan) — shu segment daromad hajmini belgilaydi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2468880"/>
            <a:ext cx="4206240" cy="4206240"/>
          </a:xfrm>
          <a:prstGeom prst="ellipse">
            <a:avLst/>
          </a:prstGeom>
          <a:solidFill>
            <a:srgbClr val="FDEBD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0180" y="3131820"/>
            <a:ext cx="2880360" cy="2880360"/>
          </a:xfrm>
          <a:prstGeom prst="ellipse">
            <a:avLst/>
          </a:prstGeom>
          <a:solidFill>
            <a:srgbClr val="F2A57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80260" y="3771900"/>
            <a:ext cx="1600200" cy="1600200"/>
          </a:xfrm>
          <a:prstGeom prst="ellipse">
            <a:avLst/>
          </a:prstGeom>
          <a:solidFill>
            <a:srgbClr val="C9552F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146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3154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44074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6812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(shartli tasvir, masshtabga mos emas)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82512" y="2039112"/>
            <a:ext cx="201168" cy="201168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56832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2219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≈21,6 mlrd so'm/yil (~$1,8 mln)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382512" y="26791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≈15 000 amaliyotchi veterinar, o'rtacha 120 000 so'm/oy to'lasa (butun mamlakat)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32461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3502152"/>
            <a:ext cx="201168" cy="201168"/>
          </a:xfrm>
          <a:prstGeom prst="ellipse">
            <a:avLst/>
          </a:prstGeom>
          <a:solidFill>
            <a:srgbClr val="F2A57E"/>
          </a:solidFill>
          <a:ln w="12700">
            <a:solidFill>
              <a:srgbClr val="F2A57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56832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36850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≈8,6 mlrd so'm/yil (~$730 ming)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41422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≈6 000 shahar/internetga ulangan, mustaqil qaror qabul qiluvchi veterinar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47091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82512" y="4965192"/>
            <a:ext cx="201168" cy="201168"/>
          </a:xfrm>
          <a:prstGeom prst="ellipse">
            <a:avLst/>
          </a:prstGeom>
          <a:solidFill>
            <a:srgbClr val="C9552F"/>
          </a:solidFill>
          <a:ln w="12700">
            <a:solidFill>
              <a:srgbClr val="C955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56832" y="4846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5148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≈360 mln so'm/yil (~$30 ming)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382512" y="5605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yillik maqsad: 250 ta to'lovchi veterinar (nol nuqtadan ~6x yuqori)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Kurs: 1 USD ≈ 11 850 so'm (2026-sen., cbu.uz). Veterinarlar soni bo'yicha yagona rasmiy manba topilmadi — 15 000 taxminiy son (10-bo'lim: pilotda aniqlanadi).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METODIKA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Manbalar va taxminlar — shaffoflik uchun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Ko'rsatkich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257800" y="14173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Qiymat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287000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109960" cy="397764"/>
          </a:xfrm>
          <a:prstGeom prst="rect">
            <a:avLst/>
          </a:prstGeom>
          <a:solidFill>
            <a:srgbClr val="FCF6F1"/>
          </a:solidFill>
          <a:ln w="12700">
            <a:solidFill>
              <a:srgbClr val="FCF6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783080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Aholi soni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783080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37,5 mln kishi (2025-y. 1-yanvar)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87000" y="1835658"/>
            <a:ext cx="1417320" cy="292608"/>
          </a:xfrm>
          <a:prstGeom prst="roundRect">
            <a:avLst>
              <a:gd name="adj" fmla="val 15625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87000" y="183565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Rasmiy manba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80844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Qoramol bosh soni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180844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14,14 mln bosh (2024-y. 1-yanvar)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287000" y="2233422"/>
            <a:ext cx="1417320" cy="292608"/>
          </a:xfrm>
          <a:prstGeom prst="roundRect">
            <a:avLst>
              <a:gd name="adj" fmla="val 15625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87000" y="223342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Rasmiy manba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78608"/>
            <a:ext cx="11109960" cy="397764"/>
          </a:xfrm>
          <a:prstGeom prst="rect">
            <a:avLst/>
          </a:prstGeom>
          <a:solidFill>
            <a:srgbClr val="FCF6F1"/>
          </a:solidFill>
          <a:ln w="12700">
            <a:solidFill>
              <a:srgbClr val="FCF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2578608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Qo'y / echki bosh soni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578608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24,1 mln bosh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87000" y="2631186"/>
            <a:ext cx="1417320" cy="292608"/>
          </a:xfrm>
          <a:prstGeom prst="roundRect">
            <a:avLst>
              <a:gd name="adj" fmla="val 15625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87000" y="263118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Rasmiy manba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976372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Dehqon xo'jaliklari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2976372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4,56 mln ta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87000" y="3028950"/>
            <a:ext cx="1417320" cy="292608"/>
          </a:xfrm>
          <a:prstGeom prst="roundRect">
            <a:avLst>
              <a:gd name="adj" fmla="val 15625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287000" y="302895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Rasmiy manba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374136"/>
            <a:ext cx="11109960" cy="397764"/>
          </a:xfrm>
          <a:prstGeom prst="rect">
            <a:avLst/>
          </a:prstGeom>
          <a:solidFill>
            <a:srgbClr val="FCF6F1"/>
          </a:solidFill>
          <a:ln w="12700">
            <a:solidFill>
              <a:srgbClr val="FCF6F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3374136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Fermer xo'jaliklari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374136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80 628 ta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287000" y="3426714"/>
            <a:ext cx="1417320" cy="292608"/>
          </a:xfrm>
          <a:prstGeom prst="roundRect">
            <a:avLst>
              <a:gd name="adj" fmla="val 15625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87000" y="342671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Rasmiy manba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771900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USD rasmiy kursi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57800" y="3771900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≈11 850 so'm (2026-y. sentyabr)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287000" y="3824478"/>
            <a:ext cx="1417320" cy="292608"/>
          </a:xfrm>
          <a:prstGeom prst="roundRect">
            <a:avLst>
              <a:gd name="adj" fmla="val 15625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287000" y="382447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Rasmiy manba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169664"/>
            <a:ext cx="11109960" cy="397764"/>
          </a:xfrm>
          <a:prstGeom prst="rect">
            <a:avLst/>
          </a:prstGeom>
          <a:solidFill>
            <a:srgbClr val="FCF6F1"/>
          </a:solidFill>
          <a:ln w="12700">
            <a:solidFill>
              <a:srgbClr val="FCF6F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8368" y="4169664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O'rtacha xonadon hajmi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4169664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~4,2 kishi/oila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287000" y="4222242"/>
            <a:ext cx="1051560" cy="292608"/>
          </a:xfrm>
          <a:prstGeom prst="roundRect">
            <a:avLst>
              <a:gd name="adj" fmla="val 156250"/>
            </a:avLst>
          </a:prstGeom>
          <a:solidFill>
            <a:srgbClr val="FCEFD4"/>
          </a:solidFill>
          <a:ln w="12700">
            <a:solidFill>
              <a:srgbClr val="FCEFD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87000" y="422224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Taxmin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4567428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Shahar aholisi ulushi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257800" y="4567428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~51%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0287000" y="4620006"/>
            <a:ext cx="1051560" cy="292608"/>
          </a:xfrm>
          <a:prstGeom prst="roundRect">
            <a:avLst>
              <a:gd name="adj" fmla="val 156250"/>
            </a:avLst>
          </a:prstGeom>
          <a:solidFill>
            <a:srgbClr val="FCEFD4"/>
          </a:solidFill>
          <a:ln w="12700">
            <a:solidFill>
              <a:srgbClr val="FCEFD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87000" y="462000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Taxmin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4965192"/>
            <a:ext cx="11109960" cy="397764"/>
          </a:xfrm>
          <a:prstGeom prst="rect">
            <a:avLst/>
          </a:prstGeom>
          <a:solidFill>
            <a:srgbClr val="FCF6F1"/>
          </a:solidFill>
          <a:ln w="12700">
            <a:solidFill>
              <a:srgbClr val="FCF6F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8368" y="4965192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Shaharda uy hayvoni egalik darajasi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5257800" y="4965192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~13% (rasmiy statistika yo'q)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0287000" y="5017770"/>
            <a:ext cx="1051560" cy="292608"/>
          </a:xfrm>
          <a:prstGeom prst="roundRect">
            <a:avLst>
              <a:gd name="adj" fmla="val 156250"/>
            </a:avLst>
          </a:prstGeom>
          <a:solidFill>
            <a:srgbClr val="FCEFD4"/>
          </a:solidFill>
          <a:ln w="12700">
            <a:solidFill>
              <a:srgbClr val="FCEFD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287000" y="501777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Taxmin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5362956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Mamlakatdagi amaliyotchi veterinarlar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5362956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~15 000 kishi (yagona manba topilmadi)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87000" y="5415534"/>
            <a:ext cx="1051560" cy="292608"/>
          </a:xfrm>
          <a:prstGeom prst="roundRect">
            <a:avLst>
              <a:gd name="adj" fmla="val 156250"/>
            </a:avLst>
          </a:prstGeom>
          <a:solidFill>
            <a:srgbClr val="FCEFD4"/>
          </a:solidFill>
          <a:ln w="12700">
            <a:solidFill>
              <a:srgbClr val="FCEFD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87000" y="541553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Taxmin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760720"/>
            <a:ext cx="11109960" cy="397764"/>
          </a:xfrm>
          <a:prstGeom prst="rect">
            <a:avLst/>
          </a:prstGeom>
          <a:solidFill>
            <a:srgbClr val="FCF6F1"/>
          </a:solidFill>
          <a:ln w="12700">
            <a:solidFill>
              <a:srgbClr val="FCF6F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8368" y="5760720"/>
            <a:ext cx="45720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O'rtacha to'lovchi vet to'lovi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5257800" y="5760720"/>
            <a:ext cx="48463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120 000 so'm/oy (bozorda hali sinalmagan)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10287000" y="5813298"/>
            <a:ext cx="1051560" cy="292608"/>
          </a:xfrm>
          <a:prstGeom prst="roundRect">
            <a:avLst>
              <a:gd name="adj" fmla="val 156250"/>
            </a:avLst>
          </a:prstGeom>
          <a:solidFill>
            <a:srgbClr val="FCEFD4"/>
          </a:solidFill>
          <a:ln w="12700">
            <a:solidFill>
              <a:srgbClr val="FCEFD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287000" y="581329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77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Taxmin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Rasmiy manbalar: Davlat statistika qo'mitasi (stat.uz), O'zbekiston Markaziy banki (cbu.uz). Taxminlar pilot bosqichida haqiqiy ma'lumot bilan aniqlanadi (11-slayd).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IKKI TOMONLAMA BOZOR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 bepul, veterinar to'laydi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2103120"/>
            <a:ext cx="868680" cy="86868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3364" y="2337664"/>
            <a:ext cx="399593" cy="3995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So'rov yuboradi, hech narsa to'lamaydi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16052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846320" y="18288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29300" y="2103120"/>
            <a:ext cx="868680" cy="868680"/>
          </a:xfrm>
          <a:prstGeom prst="ellipse">
            <a:avLst/>
          </a:prstGeom>
          <a:solidFill>
            <a:srgbClr val="C9552F"/>
          </a:solidFill>
          <a:ln w="12700">
            <a:solidFill>
              <a:srgbClr val="C9552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3844" y="2337664"/>
            <a:ext cx="399593" cy="3995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8348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Moslashtiradi, ko'rinishni boshqaradi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800100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686800" y="1828800"/>
            <a:ext cx="2834640" cy="2103120"/>
          </a:xfrm>
          <a:prstGeom prst="roundRect">
            <a:avLst>
              <a:gd name="adj" fmla="val 4348"/>
            </a:avLst>
          </a:prstGeom>
          <a:solidFill>
            <a:srgbClr val="E1F0E7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69780" y="2103120"/>
            <a:ext cx="868680" cy="868680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324" y="2337664"/>
            <a:ext cx="399593" cy="3995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8239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869680" y="3474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mijoz oladi, shuning uchun to'laydi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1005840" y="4297680"/>
            <a:ext cx="4800600" cy="1600200"/>
          </a:xfrm>
          <a:prstGeom prst="roundRect">
            <a:avLst>
              <a:gd name="adj" fmla="val 5714"/>
            </a:avLst>
          </a:prstGeom>
          <a:solidFill>
            <a:srgbClr val="FDEBDF"/>
          </a:solidFill>
          <a:ln w="9525">
            <a:solidFill>
              <a:srgbClr val="FDEBDF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1234440" y="4462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mijoz bepul?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234440" y="480060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bozorda avval foydalanuvchi oqimi kerak. Bepul bo'lsa mijoz tez qo'shiladi va veterinar uchun qiymat ("bu yerda mijoz bor") shakllanadi.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355080" y="4297680"/>
            <a:ext cx="4800600" cy="1600200"/>
          </a:xfrm>
          <a:prstGeom prst="roundRect">
            <a:avLst>
              <a:gd name="adj" fmla="val 5714"/>
            </a:avLst>
          </a:prstGeom>
          <a:solidFill>
            <a:srgbClr val="E1F0E7"/>
          </a:solidFill>
          <a:ln w="9525">
            <a:solidFill>
              <a:srgbClr val="E1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6583680" y="4462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 veterinar to'laydi?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6583680" y="480060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Unga aniq foyda keladi — yangi mijoz. To'lov ishdan OLDIN olinadi (taklif krediti, TOP), shuning uchun "telefon almashib chetlab o'tish" muammosiga tushmaydi.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UMUMIY KO'RINISH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Biznes model kanvasi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91109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Mijozlar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95144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 hayvoni egalari, chorva/fermer xo'jaliklari (bepul)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783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02152" y="191109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To'lovchi tomon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502152" y="2295144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Veterinarlar va klinikalar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91072" y="191109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Qiymat taklifi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291072" y="2295144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Mijozga: tez topish, ishonch. Vetga: yangi mijoz oqimi, ko'rinish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178308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79992" y="191109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Kanallar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079992" y="2295144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bot, klinikalar, kanal/guruhlar, tavsiya (referral)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DEBDF"/>
          </a:solidFill>
          <a:ln w="9525">
            <a:solidFill>
              <a:srgbClr val="FDEBDF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" y="346557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 oqimlari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849624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Taklif krediti, TOP joylashuv, premium obuna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3337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502152" y="346557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resurslar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3502152" y="3849624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Veterinarlar bazasi, reyting/izohlar, admin nazorati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3337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291072" y="3465576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Xarajatlar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3849624"/>
            <a:ext cx="2322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Server, xarita, marketing, moderatsiya/qo'llab-quvvatlash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QANDAY PUL TOPAMIZ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 oqimlari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2172157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47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Taklif krediti (lead)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134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ochiq so'rovga (tender) taklif yuborish uchun kredit sarflaydi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138160" y="2080260"/>
            <a:ext cx="3246120" cy="457200"/>
          </a:xfrm>
          <a:prstGeom prst="roundRect">
            <a:avLst>
              <a:gd name="adj" fmla="val 10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20802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kredit ≈ 3 000–5 000 so'm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063240"/>
            <a:ext cx="594360" cy="59436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7" y="3223717"/>
            <a:ext cx="273406" cy="2734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91640" y="2999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joylashuv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1691640" y="336499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qidiruv natijalarida yuqorida chiqadi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3131820"/>
            <a:ext cx="3246120" cy="457200"/>
          </a:xfrm>
          <a:prstGeom prst="roundRect">
            <a:avLst>
              <a:gd name="adj" fmla="val 10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38160" y="31318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50 000–100 000 so'm/hafta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" y="3931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4275277"/>
            <a:ext cx="273406" cy="27340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91640" y="4050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obuna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1691640" y="44165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Cheksiz taklif, "Tasdiqlangan" belgi, statistika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138160" y="4183380"/>
            <a:ext cx="3246120" cy="457200"/>
          </a:xfrm>
          <a:prstGeom prst="roundRect">
            <a:avLst>
              <a:gd name="adj" fmla="val 10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138160" y="41833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100 000–150 000 so'm/oy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22960" y="5166360"/>
            <a:ext cx="594360" cy="594360"/>
          </a:xfrm>
          <a:prstGeom prst="ellipse">
            <a:avLst/>
          </a:prstGeom>
          <a:solidFill>
            <a:srgbClr val="E8774A"/>
          </a:solidFill>
          <a:ln w="12700">
            <a:solidFill>
              <a:srgbClr val="E8774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" y="5326837"/>
            <a:ext cx="273406" cy="27340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91640" y="51023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Klinikalar uchun tarif (keyinroq)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1691640" y="546811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Ko'p vet, kengaytirilgan profil, reklama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138160" y="5234940"/>
            <a:ext cx="3246120" cy="457200"/>
          </a:xfrm>
          <a:prstGeom prst="roundRect">
            <a:avLst>
              <a:gd name="adj" fmla="val 100000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138160" y="52349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Pilotdan keyin belgilanadi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YO'L XARITASI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Bosqichma-bosqich yoqamiz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531620" y="1920240"/>
            <a:ext cx="640080" cy="640080"/>
          </a:xfrm>
          <a:prstGeom prst="ellipse">
            <a:avLst/>
          </a:prstGeom>
          <a:solidFill>
            <a:srgbClr val="C9552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316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54680" y="2240280"/>
            <a:ext cx="182880" cy="0"/>
          </a:xfrm>
          <a:prstGeom prst="line">
            <a:avLst/>
          </a:prstGeom>
          <a:noFill/>
          <a:ln w="25400">
            <a:solidFill>
              <a:srgbClr val="F2A5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8346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211580" y="3383280"/>
            <a:ext cx="1280160" cy="320040"/>
          </a:xfrm>
          <a:prstGeom prst="roundRect">
            <a:avLst>
              <a:gd name="adj" fmla="val 142857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1158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oy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86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Hammasi bepul, faqat metrikalar yig'iladi (javob tezligi, yakunlanish, takroriy foydalanish)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0540" y="1920240"/>
            <a:ext cx="640080" cy="640080"/>
          </a:xfrm>
          <a:prstGeom prst="ellipse">
            <a:avLst/>
          </a:prstGeom>
          <a:solidFill>
            <a:srgbClr val="E877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05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943600" y="2240280"/>
            <a:ext cx="182880" cy="0"/>
          </a:xfrm>
          <a:prstGeom prst="line">
            <a:avLst/>
          </a:prstGeom>
          <a:noFill/>
          <a:ln w="25400">
            <a:solidFill>
              <a:srgbClr val="F2A5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28346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52044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 + TOP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000500" y="3383280"/>
            <a:ext cx="1280160" cy="320040"/>
          </a:xfrm>
          <a:prstGeom prst="roundRect">
            <a:avLst>
              <a:gd name="adj" fmla="val 142857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0050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oy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3886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Qo'lda to'lov (bank/Payme) bilan sinaladi — integratsiyaga vaqt sarflanmaydi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09460" y="1920240"/>
            <a:ext cx="640080" cy="640080"/>
          </a:xfrm>
          <a:prstGeom prst="ellipse">
            <a:avLst/>
          </a:prstGeom>
          <a:solidFill>
            <a:srgbClr val="E877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094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732520" y="2240280"/>
            <a:ext cx="182880" cy="0"/>
          </a:xfrm>
          <a:prstGeom prst="line">
            <a:avLst/>
          </a:prstGeom>
          <a:noFill/>
          <a:ln w="25400">
            <a:solidFill>
              <a:srgbClr val="F2A57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8346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30936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obuna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789420" y="3383280"/>
            <a:ext cx="1280160" cy="320040"/>
          </a:xfrm>
          <a:prstGeom prst="roundRect">
            <a:avLst>
              <a:gd name="adj" fmla="val 142857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8942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oy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886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Talab tasdiqlangach yoqiladi: cheksiz taklif, statistika, belgi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98380" y="1920240"/>
            <a:ext cx="640080" cy="640080"/>
          </a:xfrm>
          <a:prstGeom prst="ellipse">
            <a:avLst/>
          </a:prstGeom>
          <a:solidFill>
            <a:srgbClr val="E877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983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915400" y="28346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09828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Kengaytirilgan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578340" y="3383280"/>
            <a:ext cx="1280160" cy="320040"/>
          </a:xfrm>
          <a:prstGeom prst="roundRect">
            <a:avLst>
              <a:gd name="adj" fmla="val 142857"/>
            </a:avLst>
          </a:prstGeom>
          <a:solidFill>
            <a:srgbClr val="FDEBDF"/>
          </a:solidFill>
          <a:ln w="12700">
            <a:solidFill>
              <a:srgbClr val="FDEB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78340" y="3383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oy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098280" y="38862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Klinika tarifi, brend reklamasi, avtomatik to'lov integratsiyasi (Payme/Click)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MISOL HISOB-KITOB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Oddiy iqtisod va nol nuqta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Oylik xarajat taxminan 5 mln so'm (server, xarita, marketing, yarim kunlik moderator) deb olinganda: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FBE4E1"/>
          </a:solidFill>
          <a:ln w="9525">
            <a:solidFill>
              <a:srgbClr val="FBE4E1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Pessimistik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vet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80 000 so'm/oy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Daromad: 1,6 mln so'm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66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−3,4 mln so'm/oy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6052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1F0E7"/>
          </a:solidFill>
          <a:ln w="9525">
            <a:solidFill>
              <a:srgbClr val="E1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4340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vet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120 000 so'm/oy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Daromad: 7,2 mln so'm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566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+2,2 mln so'm/oy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772400" y="196596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E1F0E7"/>
          </a:solidFill>
          <a:ln w="9525">
            <a:solidFill>
              <a:srgbClr val="E1F0E7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955280" y="2103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Optimistik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4688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vet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7889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150 000 so'm/oy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Daromad: 22,5 mln so'm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3566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8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+17,5 mln so'm/oy</a:t>
            </a:r>
            <a:endParaRPr lang="en-US" sz="2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8138160" y="1965960"/>
          <a:ext cx="35204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548640" y="4480560"/>
            <a:ext cx="7406640" cy="1463040"/>
          </a:xfrm>
          <a:prstGeom prst="roundRect">
            <a:avLst>
              <a:gd name="adj" fmla="val 6250"/>
            </a:avLst>
          </a:prstGeom>
          <a:solidFill>
            <a:srgbClr val="FDEBDF"/>
          </a:solidFill>
          <a:ln w="9525">
            <a:solidFill>
              <a:srgbClr val="FDEBDF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7724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Nol nuqta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956048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5 000 000 ÷ 120 000 ≈ 42 ta to'lovchi veterinar. Bu boshlang'ich maqsad — SOM (4-slayd) shu nuqtadan ~6x yuqorida (250 vet), ya'ni yo'l xaritasi zaxira bilan rejalashtirilgan.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FARAZLARNI SINASH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Pilotda nimani tekshiramiz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21792" cy="6217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524" y="1996684"/>
            <a:ext cx="286024" cy="286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 tezligi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194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 chaqiruvga necha daqiqada javob beradi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828800"/>
            <a:ext cx="621792" cy="6217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364" y="1996684"/>
            <a:ext cx="286024" cy="286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0372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Yakunlanish ulushi</a:t>
            </a:r>
            <a:endParaRPr lang="en-US" sz="1650" dirty="0"/>
          </a:p>
        </p:txBody>
      </p:sp>
      <p:sp>
        <p:nvSpPr>
          <p:cNvPr id="11" name="Text 7"/>
          <p:cNvSpPr txBox="1"/>
          <p:nvPr/>
        </p:nvSpPr>
        <p:spPr>
          <a:xfrm>
            <a:off x="6903720" y="21945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Boshlangan chaqiruvlarning qanchasi tugallanadi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621792" cy="6217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24" y="3414004"/>
            <a:ext cx="286024" cy="286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227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faolligi</a:t>
            </a:r>
            <a:endParaRPr lang="en-US" sz="165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611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Ochiq so'rovga o'rtacha nechta taklif keladi (2–3 yetarli)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126480" y="3246120"/>
            <a:ext cx="621792" cy="6217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364" y="3414004"/>
            <a:ext cx="286024" cy="2860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03720" y="3227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Takroriy foydalanish</a:t>
            </a:r>
            <a:endParaRPr lang="en-US" sz="1650" dirty="0"/>
          </a:p>
        </p:txBody>
      </p:sp>
      <p:sp>
        <p:nvSpPr>
          <p:cNvPr id="19" name="Text 13"/>
          <p:cNvSpPr txBox="1"/>
          <p:nvPr/>
        </p:nvSpPr>
        <p:spPr>
          <a:xfrm>
            <a:off x="6903720" y="3611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Mijoz yana chaqiradimi, izoh qoldiradimi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663440"/>
            <a:ext cx="621792" cy="6217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524" y="4831324"/>
            <a:ext cx="286024" cy="2860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4645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To'lashga tayyorlik</a:t>
            </a:r>
            <a:endParaRPr lang="en-US" sz="165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50292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haqiqiy pul bilan TOP/kredit sotib oladimi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126480" y="4663440"/>
            <a:ext cx="621792" cy="6217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364" y="4831324"/>
            <a:ext cx="286024" cy="28602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03720" y="46451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Hudud va segment</a:t>
            </a:r>
            <a:endParaRPr lang="en-US" sz="1650" dirty="0"/>
          </a:p>
        </p:txBody>
      </p:sp>
      <p:sp>
        <p:nvSpPr>
          <p:cNvPr id="27" name="Text 19"/>
          <p:cNvSpPr txBox="1"/>
          <p:nvPr/>
        </p:nvSpPr>
        <p:spPr>
          <a:xfrm>
            <a:off x="6903720" y="50292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Toshkentmi yoki boshqa shahar, uy hayvonimi yoki chorva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5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XAVFLARNI BOSHQARISH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Asosiy xavflar va javoblar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109728" cy="2103120"/>
          </a:xfrm>
          <a:prstGeom prst="rect">
            <a:avLst/>
          </a:prstGeom>
          <a:solidFill>
            <a:srgbClr val="C94A3E"/>
          </a:solidFill>
          <a:ln w="12700">
            <a:solidFill>
              <a:srgbClr val="C94A3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Chetlab o'tish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 raqam almashib, ilovadan tashqarida kelishish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71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Javob: To'lov ishdan OLDIN olinadi (kredit, TOP) — chetlab o'tish daromadga ta'sir qilmaydi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26480" y="1783080"/>
            <a:ext cx="109728" cy="2103120"/>
          </a:xfrm>
          <a:prstGeom prst="rect">
            <a:avLst/>
          </a:prstGeom>
          <a:solidFill>
            <a:srgbClr val="C94A3E"/>
          </a:solidFill>
          <a:ln w="12700">
            <a:solidFill>
              <a:srgbClr val="C94A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947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 yetishmasligi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Yangi hududda taklif tomoni kam bo'lishi mumkin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71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Javob: Avval bitta shahar (Toshkent), keyin bosqichma-bosqich kengayish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069080"/>
            <a:ext cx="109728" cy="2103120"/>
          </a:xfrm>
          <a:prstGeom prst="rect">
            <a:avLst/>
          </a:prstGeom>
          <a:solidFill>
            <a:srgbClr val="C94A3E"/>
          </a:solidFill>
          <a:ln w="12700">
            <a:solidFill>
              <a:srgbClr val="C94A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233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To'lashga tayyor emaslik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617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Veterinarlar pulsiz xizmatga o'rganib qolgan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Javob: Uzoq bepul pilot + qo'lda to'lov sinovi (avtomatlashtirishdan oldin)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40690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F0DFD2"/>
            </a:solidFill>
            <a:prstDash val="solid"/>
          </a:ln>
          <a:effectLst>
            <a:outerShdw sx="100000" sy="100000" kx="0" ky="0" algn="bl" rotWithShape="0" blurRad="127000" dist="25400" dir="5400000">
              <a:srgbClr val="7A4A2A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4069080"/>
            <a:ext cx="109728" cy="2103120"/>
          </a:xfrm>
          <a:prstGeom prst="rect">
            <a:avLst/>
          </a:prstGeom>
          <a:solidFill>
            <a:srgbClr val="C94A3E"/>
          </a:solidFill>
          <a:ln w="12700">
            <a:solidFill>
              <a:srgbClr val="C94A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233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Telegram/to'lov tizimlariga bog'liqlik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4617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yoki Payme/Click shartlari o'zgarishi mumkin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1D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Javob: Web versiya zaxira reja sifatida (kelajakda), ko'p to'lov kanali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5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011680"/>
            <a:ext cx="6400800" cy="6400800"/>
          </a:xfrm>
          <a:prstGeom prst="ellipse">
            <a:avLst/>
          </a:prstGeom>
          <a:solidFill>
            <a:srgbClr val="D9633B"/>
          </a:solidFill>
          <a:ln w="12700">
            <a:solidFill>
              <a:srgbClr val="D963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BE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TAVSIYA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oylik bepul pilot,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Toshkentdan boshlab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347472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3429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 veterinar va 100+ mijoz bilan sinash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40416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39959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Javob tezligi, yakunlanish va tender faolligini o'lchash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460857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456285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Keyin: taklif krediti va TOP'ni qo'lda to'lov bilan sinash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517550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51297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Nol nuqta: 42 to'lovchi vet · 3 yillik maqsad: 250 vet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E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Vet-App  |  Biznes model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Vet-App — Biznes model</dc:title>
  <dc:subject>PptxGenJS Presentation</dc:subject>
  <dc:creator>Vet-App</dc:creator>
  <cp:lastModifiedBy>Vet-App</cp:lastModifiedBy>
  <cp:revision>1</cp:revision>
  <dcterms:created xsi:type="dcterms:W3CDTF">2026-09-22T05:34:06Z</dcterms:created>
  <dcterms:modified xsi:type="dcterms:W3CDTF">2026-09-22T05:34:06Z</dcterms:modified>
</cp:coreProperties>
</file>